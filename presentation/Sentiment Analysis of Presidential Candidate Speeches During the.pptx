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87FF"/>
    <a:srgbClr val="00B0F0"/>
    <a:srgbClr val="00B8F6"/>
    <a:srgbClr val="F96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3A5FF-E438-4C18-95B5-FCD2D9641279}" type="datetimeFigureOut">
              <a:rPr lang="es-MX" smtClean="0"/>
              <a:t>01/12/2025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8FA8E-D080-48BB-8221-C8B91A10321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595002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3A5FF-E438-4C18-95B5-FCD2D9641279}" type="datetimeFigureOut">
              <a:rPr lang="es-MX" smtClean="0"/>
              <a:t>01/12/2025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8FA8E-D080-48BB-8221-C8B91A10321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13212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3A5FF-E438-4C18-95B5-FCD2D9641279}" type="datetimeFigureOut">
              <a:rPr lang="es-MX" smtClean="0"/>
              <a:t>01/12/2025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8FA8E-D080-48BB-8221-C8B91A10321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15272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3A5FF-E438-4C18-95B5-FCD2D9641279}" type="datetimeFigureOut">
              <a:rPr lang="es-MX" smtClean="0"/>
              <a:t>01/12/2025</a:t>
            </a:fld>
            <a:endParaRPr lang="es-MX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8FA8E-D080-48BB-8221-C8B91A10321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93377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3A5FF-E438-4C18-95B5-FCD2D9641279}" type="datetimeFigureOut">
              <a:rPr lang="es-MX" smtClean="0"/>
              <a:t>01/12/2025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8FA8E-D080-48BB-8221-C8B91A10321A}" type="slidenum">
              <a:rPr lang="es-MX" smtClean="0"/>
              <a:t>‹#›</a:t>
            </a:fld>
            <a:endParaRPr lang="es-MX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681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3A5FF-E438-4C18-95B5-FCD2D9641279}" type="datetimeFigureOut">
              <a:rPr lang="es-MX" smtClean="0"/>
              <a:t>01/12/2025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8FA8E-D080-48BB-8221-C8B91A10321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86225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3A5FF-E438-4C18-95B5-FCD2D9641279}" type="datetimeFigureOut">
              <a:rPr lang="es-MX" smtClean="0"/>
              <a:t>01/12/2025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8FA8E-D080-48BB-8221-C8B91A10321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28235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3A5FF-E438-4C18-95B5-FCD2D9641279}" type="datetimeFigureOut">
              <a:rPr lang="es-MX" smtClean="0"/>
              <a:t>01/12/2025</a:t>
            </a:fld>
            <a:endParaRPr lang="es-MX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s-MX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8FA8E-D080-48BB-8221-C8B91A10321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15715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48D3A5FF-E438-4C18-95B5-FCD2D9641279}" type="datetimeFigureOut">
              <a:rPr lang="es-MX" smtClean="0"/>
              <a:t>01/12/2025</a:t>
            </a:fld>
            <a:endParaRPr lang="es-MX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s-MX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8FA8E-D080-48BB-8221-C8B91A10321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0573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3A5FF-E438-4C18-95B5-FCD2D9641279}" type="datetimeFigureOut">
              <a:rPr lang="es-MX" smtClean="0"/>
              <a:t>01/12/2025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8FA8E-D080-48BB-8221-C8B91A10321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28423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3A5FF-E438-4C18-95B5-FCD2D9641279}" type="datetimeFigureOut">
              <a:rPr lang="es-MX" smtClean="0"/>
              <a:t>01/12/2025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8FA8E-D080-48BB-8221-C8B91A10321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32626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48D3A5FF-E438-4C18-95B5-FCD2D9641279}" type="datetimeFigureOut">
              <a:rPr lang="es-MX" smtClean="0"/>
              <a:t>01/12/2025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D408FA8E-D080-48BB-8221-C8B91A10321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40688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EE24D-9455-57F5-A20B-17B8E08D52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Sentiment Analysis of Presidential Candidate Speeches During the Pandemic</a:t>
            </a:r>
            <a:endParaRPr lang="es-MX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F69C64-0DE6-EA3A-93C9-E64D9F2014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Edgar Guzman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35647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71CA1-AE79-9DF9-8852-C6F4952F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EDEB2-D084-B003-0466-805DEBA75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638044"/>
            <a:ext cx="9445752" cy="310198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COVID-19 and Statewide Shutdowns led to a major shift in the political climate</a:t>
            </a:r>
            <a:r>
              <a:rPr lang="es-MX" sz="2000" dirty="0"/>
              <a:t>.</a:t>
            </a:r>
          </a:p>
          <a:p>
            <a:pPr marL="0" indent="0">
              <a:buNone/>
            </a:pPr>
            <a:r>
              <a:rPr lang="es-MX" sz="2000" dirty="0"/>
              <a:t>62% </a:t>
            </a:r>
            <a:r>
              <a:rPr lang="es-MX" sz="2000" dirty="0" err="1"/>
              <a:t>of</a:t>
            </a:r>
            <a:r>
              <a:rPr lang="es-MX" sz="2000" dirty="0"/>
              <a:t> </a:t>
            </a:r>
            <a:r>
              <a:rPr lang="es-MX" sz="2000" dirty="0" err="1"/>
              <a:t>sampled</a:t>
            </a:r>
            <a:r>
              <a:rPr lang="es-MX" sz="2000" dirty="0"/>
              <a:t> </a:t>
            </a:r>
            <a:r>
              <a:rPr lang="es-MX" sz="2000" dirty="0" err="1"/>
              <a:t>voters</a:t>
            </a:r>
            <a:r>
              <a:rPr lang="es-MX" sz="2000" dirty="0"/>
              <a:t> </a:t>
            </a:r>
            <a:r>
              <a:rPr lang="es-MX" sz="2000" dirty="0" err="1"/>
              <a:t>said</a:t>
            </a:r>
            <a:r>
              <a:rPr lang="es-MX" sz="2000" dirty="0"/>
              <a:t> </a:t>
            </a:r>
            <a:r>
              <a:rPr lang="es-MX" sz="2000" dirty="0" err="1"/>
              <a:t>the</a:t>
            </a:r>
            <a:r>
              <a:rPr lang="es-MX" sz="2000" dirty="0"/>
              <a:t> coronavirus </a:t>
            </a:r>
            <a:r>
              <a:rPr lang="es-MX" sz="2000" dirty="0" err="1"/>
              <a:t>outbreak</a:t>
            </a:r>
            <a:r>
              <a:rPr lang="es-MX" sz="2000" dirty="0"/>
              <a:t> </a:t>
            </a:r>
            <a:r>
              <a:rPr lang="es-MX" sz="2000" dirty="0" err="1"/>
              <a:t>was</a:t>
            </a:r>
            <a:r>
              <a:rPr lang="es-MX" sz="2000" dirty="0"/>
              <a:t> a top </a:t>
            </a:r>
            <a:r>
              <a:rPr lang="es-MX" sz="2000" dirty="0" err="1"/>
              <a:t>issue</a:t>
            </a:r>
            <a:r>
              <a:rPr lang="es-MX" sz="2000" dirty="0"/>
              <a:t> in </a:t>
            </a:r>
            <a:r>
              <a:rPr lang="es-MX" sz="2000" dirty="0" err="1"/>
              <a:t>the</a:t>
            </a:r>
            <a:r>
              <a:rPr lang="es-MX" sz="2000" dirty="0"/>
              <a:t> 2020 </a:t>
            </a:r>
            <a:r>
              <a:rPr lang="es-MX" sz="2000" dirty="0" err="1"/>
              <a:t>election</a:t>
            </a:r>
            <a:endParaRPr lang="es-MX" sz="2000" dirty="0"/>
          </a:p>
          <a:p>
            <a:pPr marL="0" indent="0">
              <a:buNone/>
            </a:pPr>
            <a:r>
              <a:rPr lang="es-MX" sz="2000" dirty="0" err="1"/>
              <a:t>How</a:t>
            </a:r>
            <a:r>
              <a:rPr lang="es-MX" sz="2000" dirty="0"/>
              <a:t> </a:t>
            </a:r>
            <a:r>
              <a:rPr lang="es-MX" sz="2000" dirty="0" err="1"/>
              <a:t>did</a:t>
            </a:r>
            <a:r>
              <a:rPr lang="es-MX" sz="2000" dirty="0"/>
              <a:t> </a:t>
            </a:r>
            <a:r>
              <a:rPr lang="es-MX" sz="2000" dirty="0" err="1"/>
              <a:t>presidential</a:t>
            </a:r>
            <a:r>
              <a:rPr lang="es-MX" sz="2000" dirty="0"/>
              <a:t> candidates shift </a:t>
            </a:r>
            <a:r>
              <a:rPr lang="es-MX" sz="2000" dirty="0" err="1"/>
              <a:t>their</a:t>
            </a:r>
            <a:r>
              <a:rPr lang="es-MX" sz="2000" dirty="0"/>
              <a:t> </a:t>
            </a:r>
            <a:r>
              <a:rPr lang="es-MX" sz="2000" dirty="0" err="1"/>
              <a:t>campaign</a:t>
            </a:r>
            <a:r>
              <a:rPr lang="es-MX" sz="2000" dirty="0"/>
              <a:t> </a:t>
            </a:r>
            <a:r>
              <a:rPr lang="es-MX" sz="2000" dirty="0" err="1"/>
              <a:t>platform</a:t>
            </a:r>
            <a:r>
              <a:rPr lang="es-MX" sz="2000" dirty="0"/>
              <a:t> </a:t>
            </a:r>
            <a:r>
              <a:rPr lang="es-MX" sz="2000" dirty="0" err="1"/>
              <a:t>based</a:t>
            </a:r>
            <a:r>
              <a:rPr lang="es-MX" sz="2000" dirty="0"/>
              <a:t> </a:t>
            </a:r>
            <a:r>
              <a:rPr lang="es-MX" sz="2000" dirty="0" err="1"/>
              <a:t>on</a:t>
            </a:r>
            <a:r>
              <a:rPr lang="es-MX" sz="2000" dirty="0"/>
              <a:t> </a:t>
            </a:r>
            <a:r>
              <a:rPr lang="es-MX" sz="2000" dirty="0" err="1"/>
              <a:t>this</a:t>
            </a:r>
            <a:r>
              <a:rPr lang="es-MX" sz="2000" dirty="0"/>
              <a:t> </a:t>
            </a:r>
            <a:r>
              <a:rPr lang="es-MX" sz="2000" dirty="0" err="1"/>
              <a:t>issue</a:t>
            </a:r>
            <a:r>
              <a:rPr lang="es-MX" sz="2000" dirty="0"/>
              <a:t>?</a:t>
            </a:r>
          </a:p>
          <a:p>
            <a:pPr marL="0" indent="0">
              <a:buNone/>
            </a:pPr>
            <a:endParaRPr lang="es-MX" sz="2000" dirty="0"/>
          </a:p>
          <a:p>
            <a:pPr marL="0" indent="0">
              <a:buNone/>
            </a:pPr>
            <a:r>
              <a:rPr lang="en-US" b="1" dirty="0"/>
              <a:t>What impact did COVID-19 have on the rhetoric of presidential candidates? Do we see a change in speeches before the event became mainstream news?</a:t>
            </a:r>
            <a:endParaRPr lang="en-US" dirty="0"/>
          </a:p>
          <a:p>
            <a:pPr marL="0" indent="0">
              <a:buNone/>
            </a:pPr>
            <a:br>
              <a:rPr lang="en-US" sz="2000" b="1" dirty="0"/>
            </a:br>
            <a:r>
              <a:rPr lang="en-US" sz="2000" dirty="0"/>
              <a:t>Are speeches more comforting? More blaming? More positive? Was there no change?</a:t>
            </a:r>
            <a:endParaRPr lang="en-US" sz="2000" b="1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7AC17EB4-C68E-1BFC-B98C-26855FCB2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75" y="471487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9810F8-51DA-4126-B402-FB6B3162E841}"/>
              </a:ext>
            </a:extLst>
          </p:cNvPr>
          <p:cNvSpPr txBox="1"/>
          <p:nvPr/>
        </p:nvSpPr>
        <p:spPr>
          <a:xfrm>
            <a:off x="0" y="6581001"/>
            <a:ext cx="61709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dirty="0" err="1"/>
              <a:t>Source</a:t>
            </a:r>
            <a:r>
              <a:rPr lang="es-MX" sz="1200" dirty="0"/>
              <a:t>: https://www.pewresearch.org/politics/2020/08/13/important-issues-in-the-2020-election/</a:t>
            </a:r>
          </a:p>
        </p:txBody>
      </p:sp>
    </p:spTree>
    <p:extLst>
      <p:ext uri="{BB962C8B-B14F-4D97-AF65-F5344CB8AC3E}">
        <p14:creationId xmlns:p14="http://schemas.microsoft.com/office/powerpoint/2010/main" val="3849502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9F9CA-C585-CBB0-DCA4-233E9D1B3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hYPOTHESIS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E7E3B-B428-90C8-1D2E-AB5DF8B51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642616"/>
            <a:ext cx="9555480" cy="310198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We would like to visualize voter trends and resultant voting outcomes based on presidential rhetoric to determine what can benefit or damage a political platform.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We expect to see a significant decrease in speech sentiment as speeches start to bring up COVID-19 and the pandemic.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We will measure speeches before and after </a:t>
            </a:r>
            <a:r>
              <a:rPr lang="en-US" sz="2400" b="1" dirty="0"/>
              <a:t>February 11, 2020</a:t>
            </a:r>
            <a:r>
              <a:rPr lang="en-US" sz="2400" dirty="0"/>
              <a:t>, The day the WHO officially announces the disease name “COVID-19”</a:t>
            </a:r>
            <a:endParaRPr lang="es-MX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C0A21E-E8F7-1281-57A4-D22F726F9E93}"/>
              </a:ext>
            </a:extLst>
          </p:cNvPr>
          <p:cNvSpPr txBox="1"/>
          <p:nvPr/>
        </p:nvSpPr>
        <p:spPr>
          <a:xfrm>
            <a:off x="0" y="658100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 err="1"/>
              <a:t>Source</a:t>
            </a:r>
            <a:r>
              <a:rPr lang="es-MX" sz="1200" dirty="0"/>
              <a:t>: https://www.cdc.gov/museum/timeline/covid19.html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E54AB876-3C2C-4C35-5F56-27C1AE0BD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75" y="471487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441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7F318-16ED-13A9-EAF8-32B008685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7EF56-F05D-46D0-32A1-5EEA135DF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FF2F-A201-7CA8-EFD5-890840B5A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642616"/>
            <a:ext cx="9555480" cy="31019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Our data comes from the 2020 Campaign speeches for U.S. presidential election </a:t>
            </a:r>
            <a:r>
              <a:rPr lang="en-US" sz="2000" dirty="0" err="1"/>
              <a:t>GutHib</a:t>
            </a:r>
            <a:r>
              <a:rPr lang="en-US" sz="2000" dirty="0"/>
              <a:t> repository.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Contains transcriptions of public speeches given by presidential candidates (C-SPAN, Miller Center,  Vote Smart) during their 2019-2020 campaign.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Contains speech dates in </a:t>
            </a:r>
            <a:r>
              <a:rPr lang="en-US" sz="2000" dirty="0" err="1"/>
              <a:t>DateTime</a:t>
            </a:r>
            <a:r>
              <a:rPr lang="en-US" sz="2000" dirty="0"/>
              <a:t> format, allowing us to easily create time-series graphs.</a:t>
            </a:r>
            <a:endParaRPr lang="es-MX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B8DCB3-C279-5F75-B196-6C8E9E89BC49}"/>
              </a:ext>
            </a:extLst>
          </p:cNvPr>
          <p:cNvSpPr txBox="1"/>
          <p:nvPr/>
        </p:nvSpPr>
        <p:spPr>
          <a:xfrm>
            <a:off x="0" y="6576383"/>
            <a:ext cx="50436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dirty="0" err="1"/>
              <a:t>Source</a:t>
            </a:r>
            <a:r>
              <a:rPr lang="es-MX" sz="1200" dirty="0"/>
              <a:t>: https://github.com/ichalkiad/datadescriptor_uselections2020/tree/main</a:t>
            </a:r>
          </a:p>
        </p:txBody>
      </p:sp>
    </p:spTree>
    <p:extLst>
      <p:ext uri="{BB962C8B-B14F-4D97-AF65-F5344CB8AC3E}">
        <p14:creationId xmlns:p14="http://schemas.microsoft.com/office/powerpoint/2010/main" val="3049616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D60F8-3EB8-7979-F849-04262AF1E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C0A60-D6DD-EFA0-DB7D-00F3824B9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9C5B5-139C-190B-395E-67F56A1B7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642616"/>
            <a:ext cx="9555480" cy="31019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We will use R to develop multiple analyses from our data:</a:t>
            </a:r>
            <a:endParaRPr lang="es-MX" sz="2800" dirty="0"/>
          </a:p>
          <a:p>
            <a:r>
              <a:rPr lang="en-US" sz="2800" dirty="0"/>
              <a:t>Net Sentiment Analysis of Speeches by President</a:t>
            </a:r>
          </a:p>
          <a:p>
            <a:r>
              <a:rPr lang="en-US" sz="2800" dirty="0"/>
              <a:t>LDA and Sentiment Analysis Grouped by Speech Topic</a:t>
            </a:r>
          </a:p>
          <a:p>
            <a:r>
              <a:rPr lang="en-US" sz="2800" dirty="0"/>
              <a:t>Topic Prevalence of COVID-19 in Speeches</a:t>
            </a:r>
          </a:p>
          <a:p>
            <a:r>
              <a:rPr lang="en-US" sz="2800" dirty="0"/>
              <a:t>Logistic Regression to Predict if a Topic was Related to COVID</a:t>
            </a:r>
          </a:p>
        </p:txBody>
      </p:sp>
    </p:spTree>
    <p:extLst>
      <p:ext uri="{BB962C8B-B14F-4D97-AF65-F5344CB8AC3E}">
        <p14:creationId xmlns:p14="http://schemas.microsoft.com/office/powerpoint/2010/main" val="1837452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45345B-E943-CB62-EE98-82AC5063D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E072C-A0BF-9504-E933-0160F9D89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2677" y="964692"/>
            <a:ext cx="3066937" cy="1188720"/>
          </a:xfrm>
        </p:spPr>
        <p:txBody>
          <a:bodyPr>
            <a:normAutofit/>
          </a:bodyPr>
          <a:lstStyle/>
          <a:p>
            <a:r>
              <a:rPr lang="en-US" sz="2400" dirty="0"/>
              <a:t>Net Sentiment analysis</a:t>
            </a:r>
            <a:endParaRPr lang="es-MX" sz="2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9FE660-E3DF-47E7-962D-66C6F6CE0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4795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C29FEE-8E8F-43D5-AD23-EB4060B4D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8415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 shot of a graph&#10;&#10;AI-generated content may be incorrect.">
            <a:extLst>
              <a:ext uri="{FF2B5EF4-FFF2-40B4-BE49-F238E27FC236}">
                <a16:creationId xmlns:a16="http://schemas.microsoft.com/office/drawing/2014/main" id="{81DA4E5E-E808-9127-B9E5-6AD9581048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979" y="1564852"/>
            <a:ext cx="6227064" cy="3736237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B9E7B1-EF4E-9D71-26E5-1D08DE842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1249" y="2638044"/>
            <a:ext cx="3063765" cy="32632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Joe Biden’s Speeches contain both positive and negative sentiment, resulting in many neutral speeches.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High: ~150</a:t>
            </a:r>
          </a:p>
          <a:p>
            <a:pPr marL="0" indent="0">
              <a:buNone/>
            </a:pPr>
            <a:r>
              <a:rPr lang="en-US" dirty="0"/>
              <a:t>Low: ~ -50</a:t>
            </a:r>
          </a:p>
        </p:txBody>
      </p:sp>
    </p:spTree>
    <p:extLst>
      <p:ext uri="{BB962C8B-B14F-4D97-AF65-F5344CB8AC3E}">
        <p14:creationId xmlns:p14="http://schemas.microsoft.com/office/powerpoint/2010/main" val="491763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06A38E-0D22-5E4A-D5C6-F0BBE9390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7D643-2B49-DEF5-C986-31E1C1BE5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2677" y="964692"/>
            <a:ext cx="3066937" cy="1188720"/>
          </a:xfrm>
        </p:spPr>
        <p:txBody>
          <a:bodyPr>
            <a:normAutofit/>
          </a:bodyPr>
          <a:lstStyle/>
          <a:p>
            <a:r>
              <a:rPr lang="en-US" sz="2400" dirty="0"/>
              <a:t>Net Sentiment analysis</a:t>
            </a:r>
            <a:endParaRPr lang="es-MX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9FE660-E3DF-47E7-962D-66C6F6CE0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4795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C29FEE-8E8F-43D5-AD23-EB4060B4D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8415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E36ED0-AD1C-D05E-B331-AD10EBAC20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1143980" y="1564852"/>
            <a:ext cx="6227062" cy="3736237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4C93A5D-0E4A-858F-2127-EA6FCD1F1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1249" y="2638044"/>
            <a:ext cx="3063765" cy="32632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Trumps Speeches are more positive, especially during Election Week. Trump also started campaigning earlier than Biden.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High: ~400</a:t>
            </a:r>
          </a:p>
          <a:p>
            <a:pPr marL="0" indent="0">
              <a:buNone/>
            </a:pPr>
            <a:r>
              <a:rPr lang="en-US" dirty="0"/>
              <a:t>Low: ~-60</a:t>
            </a:r>
          </a:p>
        </p:txBody>
      </p:sp>
    </p:spTree>
    <p:extLst>
      <p:ext uri="{BB962C8B-B14F-4D97-AF65-F5344CB8AC3E}">
        <p14:creationId xmlns:p14="http://schemas.microsoft.com/office/powerpoint/2010/main" val="660176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0532E0-0564-B212-2105-933D1DA91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4EAAE-F6E0-4429-E8E3-BCBEE4BFE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2677" y="964692"/>
            <a:ext cx="3066937" cy="1188720"/>
          </a:xfrm>
        </p:spPr>
        <p:txBody>
          <a:bodyPr>
            <a:normAutofit/>
          </a:bodyPr>
          <a:lstStyle/>
          <a:p>
            <a:r>
              <a:rPr lang="en-US" sz="2400" dirty="0"/>
              <a:t>Net Sentiment analysis</a:t>
            </a:r>
            <a:endParaRPr lang="es-MX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9FE660-E3DF-47E7-962D-66C6F6CE0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4795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C29FEE-8E8F-43D5-AD23-EB4060B4D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8415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37FF64-021B-9D6B-1DF5-9D35223818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1143980" y="1564852"/>
            <a:ext cx="6227062" cy="3736237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7E86FF5-9F5D-6067-C365-3C856031D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1249" y="2638044"/>
            <a:ext cx="3063765" cy="32632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Combined sentiment graphs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Both regression lines after February 11 are lower than they were before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Why are Donald Trump’s Speeches more positive?</a:t>
            </a:r>
          </a:p>
        </p:txBody>
      </p:sp>
    </p:spTree>
    <p:extLst>
      <p:ext uri="{BB962C8B-B14F-4D97-AF65-F5344CB8AC3E}">
        <p14:creationId xmlns:p14="http://schemas.microsoft.com/office/powerpoint/2010/main" val="1284827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FF1A1E-6AE0-0108-404D-F1596A79C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FF8FB-F1D4-299A-E342-4347A2C1C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2677" y="964692"/>
            <a:ext cx="3066937" cy="1188720"/>
          </a:xfrm>
        </p:spPr>
        <p:txBody>
          <a:bodyPr>
            <a:normAutofit/>
          </a:bodyPr>
          <a:lstStyle/>
          <a:p>
            <a:r>
              <a:rPr lang="en-US" sz="2400" dirty="0"/>
              <a:t>LDA and Topic Clustering</a:t>
            </a:r>
            <a:endParaRPr lang="es-MX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9FE660-E3DF-47E7-962D-66C6F6CE0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4795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C29FEE-8E8F-43D5-AD23-EB4060B4D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8415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DECE4B-874E-B611-6E64-DFF3A655C5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1143980" y="1876205"/>
            <a:ext cx="6227062" cy="3113531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84D0B83-B1AB-5ED8-01C6-14097EBDB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1249" y="2638044"/>
            <a:ext cx="3063765" cy="32632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Biden’s primary topics included Leadership skills and “Negative” Campaigning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COVID-19 Speeches tend to be slightly positive, denoting hopeful and caring outcomes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81A6675-A471-4569-A65A-F4C39B35B714}"/>
              </a:ext>
            </a:extLst>
          </p:cNvPr>
          <p:cNvSpPr/>
          <p:nvPr/>
        </p:nvSpPr>
        <p:spPr>
          <a:xfrm>
            <a:off x="1143980" y="5089177"/>
            <a:ext cx="548640" cy="548640"/>
          </a:xfrm>
          <a:prstGeom prst="ellipse">
            <a:avLst/>
          </a:prstGeom>
          <a:solidFill>
            <a:srgbClr val="F967E7"/>
          </a:solidFill>
          <a:ln w="126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CE83DA-B8CE-B107-7233-0C3D86790A2E}"/>
              </a:ext>
            </a:extLst>
          </p:cNvPr>
          <p:cNvSpPr txBox="1"/>
          <p:nvPr/>
        </p:nvSpPr>
        <p:spPr>
          <a:xfrm>
            <a:off x="1692620" y="5178831"/>
            <a:ext cx="2251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Negative Campaigning</a:t>
            </a:r>
            <a:endParaRPr lang="es-MX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1E5463C-3EA1-E3A1-86F1-50894328BC5A}"/>
              </a:ext>
            </a:extLst>
          </p:cNvPr>
          <p:cNvSpPr/>
          <p:nvPr/>
        </p:nvSpPr>
        <p:spPr>
          <a:xfrm>
            <a:off x="4492389" y="5084265"/>
            <a:ext cx="548640" cy="548640"/>
          </a:xfrm>
          <a:prstGeom prst="ellipse">
            <a:avLst/>
          </a:prstGeom>
          <a:solidFill>
            <a:srgbClr val="00B0F0"/>
          </a:solidFill>
          <a:ln w="126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C7D3E6-0D51-E077-8AD6-5BA903E6404B}"/>
              </a:ext>
            </a:extLst>
          </p:cNvPr>
          <p:cNvSpPr txBox="1"/>
          <p:nvPr/>
        </p:nvSpPr>
        <p:spPr>
          <a:xfrm>
            <a:off x="5041029" y="5173919"/>
            <a:ext cx="1196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Leadership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24949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5B8A57-38DA-E95B-FEC1-5097C1D21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14626-4E3A-9AAC-9800-94EC8C0E8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2677" y="964692"/>
            <a:ext cx="3066937" cy="1188720"/>
          </a:xfrm>
        </p:spPr>
        <p:txBody>
          <a:bodyPr>
            <a:normAutofit/>
          </a:bodyPr>
          <a:lstStyle/>
          <a:p>
            <a:r>
              <a:rPr lang="en-US" sz="2400" dirty="0"/>
              <a:t>LDA and Topic Clustering</a:t>
            </a:r>
            <a:endParaRPr lang="es-MX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9FE660-E3DF-47E7-962D-66C6F6CE0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4795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C29FEE-8E8F-43D5-AD23-EB4060B4D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8415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45C5EC-08C4-1F2B-307C-722F0F837B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3980" y="1876205"/>
            <a:ext cx="6227062" cy="3113531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F5788CA-BB1C-6063-E9EA-E95837F7A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1249" y="2638044"/>
            <a:ext cx="3063765" cy="32632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Trump’s primary topics included Public Opinion and Public Health</a:t>
            </a:r>
          </a:p>
          <a:p>
            <a:pPr marL="0" indent="0">
              <a:buNone/>
            </a:pPr>
            <a:r>
              <a:rPr lang="en-US" dirty="0"/>
              <a:t>Election Week Speeches are overwhelmingly positive, signaling that positivity was about public opinions spun towards himself.</a:t>
            </a:r>
          </a:p>
          <a:p>
            <a:pPr marL="0" indent="0">
              <a:buNone/>
            </a:pPr>
            <a:r>
              <a:rPr lang="en-US" dirty="0"/>
              <a:t>Minimal COVID topics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11C428B-2CE1-EE6D-07D3-61CB83DA6BAC}"/>
              </a:ext>
            </a:extLst>
          </p:cNvPr>
          <p:cNvSpPr/>
          <p:nvPr/>
        </p:nvSpPr>
        <p:spPr>
          <a:xfrm>
            <a:off x="1143980" y="5089177"/>
            <a:ext cx="548640" cy="548640"/>
          </a:xfrm>
          <a:prstGeom prst="ellipse">
            <a:avLst/>
          </a:prstGeom>
          <a:solidFill>
            <a:srgbClr val="B587FF"/>
          </a:solidFill>
          <a:ln w="126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DFE252-5BD9-3189-4330-BBE71B3F7743}"/>
              </a:ext>
            </a:extLst>
          </p:cNvPr>
          <p:cNvSpPr txBox="1"/>
          <p:nvPr/>
        </p:nvSpPr>
        <p:spPr>
          <a:xfrm>
            <a:off x="1692620" y="5178831"/>
            <a:ext cx="1566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Public Opinion</a:t>
            </a:r>
            <a:endParaRPr lang="es-MX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8D5B8FE-458B-692F-7992-23B5D91CEEA6}"/>
              </a:ext>
            </a:extLst>
          </p:cNvPr>
          <p:cNvSpPr/>
          <p:nvPr/>
        </p:nvSpPr>
        <p:spPr>
          <a:xfrm>
            <a:off x="4492389" y="5084265"/>
            <a:ext cx="548640" cy="548640"/>
          </a:xfrm>
          <a:prstGeom prst="ellipse">
            <a:avLst/>
          </a:prstGeom>
          <a:solidFill>
            <a:srgbClr val="00B0F0"/>
          </a:solidFill>
          <a:ln w="126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1CDA9B-C7C2-8954-AD9F-A3FDFABF89DA}"/>
              </a:ext>
            </a:extLst>
          </p:cNvPr>
          <p:cNvSpPr txBox="1"/>
          <p:nvPr/>
        </p:nvSpPr>
        <p:spPr>
          <a:xfrm>
            <a:off x="5041029" y="5173919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Public Health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10163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149F4A-A7DA-AC95-A02F-17BCB224E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9A406-453F-5FB3-BDF7-F27CFE437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2677" y="964692"/>
            <a:ext cx="3066937" cy="1188720"/>
          </a:xfrm>
        </p:spPr>
        <p:txBody>
          <a:bodyPr>
            <a:normAutofit/>
          </a:bodyPr>
          <a:lstStyle/>
          <a:p>
            <a:r>
              <a:rPr lang="en-US" sz="2400" dirty="0"/>
              <a:t>Topic Prevalence</a:t>
            </a:r>
            <a:endParaRPr lang="es-MX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9FE660-E3DF-47E7-962D-66C6F6CE0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4795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C29FEE-8E8F-43D5-AD23-EB4060B4D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8415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AB1378-D115-765B-1AC6-C895DCF42B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1143980" y="1564852"/>
            <a:ext cx="6227062" cy="3736237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FC0F834-187C-E4F9-20D9-027E83756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1249" y="2638044"/>
            <a:ext cx="3063765" cy="32632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Did speeches related to COVID-19 impact sentiment?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Yes!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Increase in COVID Topic prevalence resulted in more neutral/negative speeches</a:t>
            </a:r>
          </a:p>
        </p:txBody>
      </p:sp>
    </p:spTree>
    <p:extLst>
      <p:ext uri="{BB962C8B-B14F-4D97-AF65-F5344CB8AC3E}">
        <p14:creationId xmlns:p14="http://schemas.microsoft.com/office/powerpoint/2010/main" val="1528047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89761B-3724-8222-F860-37158CB73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BB7D5-2443-8D03-4C90-53637AC43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2677" y="964692"/>
            <a:ext cx="3066937" cy="1188720"/>
          </a:xfrm>
        </p:spPr>
        <p:txBody>
          <a:bodyPr>
            <a:normAutofit/>
          </a:bodyPr>
          <a:lstStyle/>
          <a:p>
            <a:r>
              <a:rPr lang="en-US" sz="2400" dirty="0"/>
              <a:t>Topic Prevalence</a:t>
            </a:r>
            <a:endParaRPr lang="es-MX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9FE660-E3DF-47E7-962D-66C6F6CE0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4795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C29FEE-8E8F-43D5-AD23-EB4060B4D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8415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9B8172-1756-7E04-3944-0AEAF3239B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1143980" y="1564852"/>
            <a:ext cx="6227062" cy="3736237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D21601D-2268-499B-9AFF-051153C44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1249" y="2638044"/>
            <a:ext cx="3063765" cy="32632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Biden’s speeches would comment on Donald Trump’s failure as a leader to contain COVID-19 properly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Trump mentions the coronavirus as it begins but shifts his platform away from Public Health to Public Opinions about his party. </a:t>
            </a:r>
          </a:p>
        </p:txBody>
      </p:sp>
    </p:spTree>
    <p:extLst>
      <p:ext uri="{BB962C8B-B14F-4D97-AF65-F5344CB8AC3E}">
        <p14:creationId xmlns:p14="http://schemas.microsoft.com/office/powerpoint/2010/main" val="474480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0AEF3-E847-C67A-1C5B-79536B1F4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 Coding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6D113-2BE3-7EA5-34BC-0F47EDF42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638044"/>
            <a:ext cx="9555480" cy="310198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noProof="0" dirty="0"/>
              <a:t>To determine whether a speech was related to the pandemic, we hand coded 100 (50B, 50T) observations.</a:t>
            </a:r>
          </a:p>
          <a:p>
            <a:pPr marL="0" indent="0">
              <a:buNone/>
            </a:pPr>
            <a:r>
              <a:rPr lang="en-US" sz="2000" noProof="0" dirty="0"/>
              <a:t>“1” if the speech contained keywords such as “COVID-19”, “Coronavirus” “Pandemic”, or “Vaccine”.</a:t>
            </a:r>
          </a:p>
          <a:p>
            <a:pPr marL="0" indent="0">
              <a:buNone/>
            </a:pPr>
            <a:r>
              <a:rPr lang="en-US" sz="2000" noProof="0" dirty="0"/>
              <a:t>“0” Otherwise.</a:t>
            </a:r>
          </a:p>
          <a:p>
            <a:pPr marL="0" indent="0">
              <a:buNone/>
            </a:pPr>
            <a:r>
              <a:rPr lang="en-US" sz="2000" noProof="0" dirty="0"/>
              <a:t>We then run Logistic Regression with K-Fold CV to categorically classify topics. </a:t>
            </a:r>
          </a:p>
          <a:p>
            <a:r>
              <a:rPr lang="en-US" sz="2000" noProof="0" dirty="0"/>
              <a:t>Simple to use</a:t>
            </a:r>
          </a:p>
          <a:p>
            <a:r>
              <a:rPr lang="en-US" sz="2000" noProof="0" dirty="0"/>
              <a:t>Can use related variables for prediction (Sentiment, Topic Prevalence)</a:t>
            </a:r>
          </a:p>
        </p:txBody>
      </p:sp>
    </p:spTree>
    <p:extLst>
      <p:ext uri="{BB962C8B-B14F-4D97-AF65-F5344CB8AC3E}">
        <p14:creationId xmlns:p14="http://schemas.microsoft.com/office/powerpoint/2010/main" val="1294059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40A22-D1B4-675D-06E5-78D71FC54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2677" y="964692"/>
            <a:ext cx="3066937" cy="1188720"/>
          </a:xfrm>
        </p:spPr>
        <p:txBody>
          <a:bodyPr>
            <a:normAutofit/>
          </a:bodyPr>
          <a:lstStyle/>
          <a:p>
            <a:r>
              <a:rPr lang="en-US" dirty="0"/>
              <a:t>Results</a:t>
            </a:r>
            <a:endParaRPr lang="es-MX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9FE660-E3DF-47E7-962D-66C6F6CE0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4795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C29FEE-8E8F-43D5-AD23-EB4060B4D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8415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F50965-6276-C76A-28BF-58ED9B236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940" y="1293275"/>
            <a:ext cx="4619141" cy="427939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01959-D179-368A-7B00-639AA9D52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1249" y="2638044"/>
            <a:ext cx="3063765" cy="326320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&gt;75% accuracy to predict out of 20+ topics is a very strong indication of a working model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Precision: 0.74</a:t>
            </a:r>
          </a:p>
          <a:p>
            <a:pPr marL="0" indent="0">
              <a:buNone/>
            </a:pPr>
            <a:r>
              <a:rPr lang="en-US" dirty="0"/>
              <a:t>Recall: 0.80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At .05, we fail to reject our null hypothesis. A change in regression model can improve our confusion matrix.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40950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ED719-171F-E739-2272-4CC1B70A9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and final remarks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E4707-BD8C-8A93-2731-159F67818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To improve our model, we would need to include Topic Name in the formula. Too many R errors prevented us from using them.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Public broadcasts tend to skew towards positivity as more people are reached. Social Media posts would show significantly higher negative sentiment if used.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Our next steps will be to implement both factors in our next project.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83980574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84</TotalTime>
  <Words>741</Words>
  <Application>Microsoft Office PowerPoint</Application>
  <PresentationFormat>Widescreen</PresentationFormat>
  <Paragraphs>85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Gill Sans MT</vt:lpstr>
      <vt:lpstr>Parcel</vt:lpstr>
      <vt:lpstr>Sentiment Analysis of Presidential Candidate Speeches During the Pandemic</vt:lpstr>
      <vt:lpstr>Question</vt:lpstr>
      <vt:lpstr>hYPOTHESIS</vt:lpstr>
      <vt:lpstr>data</vt:lpstr>
      <vt:lpstr>Approach</vt:lpstr>
      <vt:lpstr>Net Sentiment analysis</vt:lpstr>
      <vt:lpstr>Net Sentiment analysis</vt:lpstr>
      <vt:lpstr>Net Sentiment analysis</vt:lpstr>
      <vt:lpstr>LDA and Topic Clustering</vt:lpstr>
      <vt:lpstr>LDA and Topic Clustering</vt:lpstr>
      <vt:lpstr>Topic Prevalence</vt:lpstr>
      <vt:lpstr>Topic Prevalence</vt:lpstr>
      <vt:lpstr>Hand Coding</vt:lpstr>
      <vt:lpstr>Results</vt:lpstr>
      <vt:lpstr>Limitations and final remarks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Guzman, Edgar</dc:creator>
  <cp:lastModifiedBy>Guzman, Edgar</cp:lastModifiedBy>
  <cp:revision>4</cp:revision>
  <dcterms:created xsi:type="dcterms:W3CDTF">2025-12-01T23:33:30Z</dcterms:created>
  <dcterms:modified xsi:type="dcterms:W3CDTF">2025-12-02T00:58:04Z</dcterms:modified>
</cp:coreProperties>
</file>